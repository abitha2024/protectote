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Overlock"/>
      <p:regular r:id="rId21"/>
      <p:bold r:id="rId22"/>
      <p:italic r:id="rId23"/>
      <p:boldItalic r:id="rId24"/>
    </p:embeddedFont>
    <p:embeddedFont>
      <p:font typeface="Arial Black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UBuJFjl6b3uv0D+gnSWYdjB0Z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6B19831-4F8B-4C8C-88AB-39AB46E1A218}">
  <a:tblStyle styleId="{86B19831-4F8B-4C8C-88AB-39AB46E1A21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Overlock-bold.fntdata"/><Relationship Id="rId21" Type="http://schemas.openxmlformats.org/officeDocument/2006/relationships/font" Target="fonts/Overlock-regular.fntdata"/><Relationship Id="rId24" Type="http://schemas.openxmlformats.org/officeDocument/2006/relationships/font" Target="fonts/Overlock-boldItalic.fntdata"/><Relationship Id="rId23" Type="http://schemas.openxmlformats.org/officeDocument/2006/relationships/font" Target="fonts/Overlock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875375d07d0b3e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875375d07d0b3e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d875375d07d0b3e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875375d07d0b3e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875375d07d0b3e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d875375d07d0b3e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875375d07d0b3e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875375d07d0b3e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d875375d07d0b3e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769322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37564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769322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37564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769322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37564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1" type="ftr"/>
          </p:nvPr>
        </p:nvSpPr>
        <p:spPr>
          <a:xfrm>
            <a:off x="769322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18"/>
          <p:cNvSpPr txBox="1"/>
          <p:nvPr>
            <p:ph idx="12" type="sldNum"/>
          </p:nvPr>
        </p:nvSpPr>
        <p:spPr>
          <a:xfrm>
            <a:off x="37564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1" type="ftr"/>
          </p:nvPr>
        </p:nvSpPr>
        <p:spPr>
          <a:xfrm>
            <a:off x="769322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19"/>
          <p:cNvSpPr txBox="1"/>
          <p:nvPr>
            <p:ph idx="12" type="sldNum"/>
          </p:nvPr>
        </p:nvSpPr>
        <p:spPr>
          <a:xfrm>
            <a:off x="37564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769322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37564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1" type="ftr"/>
          </p:nvPr>
        </p:nvSpPr>
        <p:spPr>
          <a:xfrm>
            <a:off x="769322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21"/>
          <p:cNvSpPr txBox="1"/>
          <p:nvPr>
            <p:ph idx="12" type="sldNum"/>
          </p:nvPr>
        </p:nvSpPr>
        <p:spPr>
          <a:xfrm>
            <a:off x="37564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1" type="ftr"/>
          </p:nvPr>
        </p:nvSpPr>
        <p:spPr>
          <a:xfrm>
            <a:off x="769322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22"/>
          <p:cNvSpPr txBox="1"/>
          <p:nvPr>
            <p:ph idx="12" type="sldNum"/>
          </p:nvPr>
        </p:nvSpPr>
        <p:spPr>
          <a:xfrm>
            <a:off x="37564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769322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37564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769322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37564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1" type="ftr"/>
          </p:nvPr>
        </p:nvSpPr>
        <p:spPr>
          <a:xfrm>
            <a:off x="7693223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5"/>
          <p:cNvSpPr txBox="1"/>
          <p:nvPr>
            <p:ph idx="12" type="sldNum"/>
          </p:nvPr>
        </p:nvSpPr>
        <p:spPr>
          <a:xfrm>
            <a:off x="37564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2" type="sldNum"/>
          </p:nvPr>
        </p:nvSpPr>
        <p:spPr>
          <a:xfrm>
            <a:off x="375649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305879" y="153297"/>
            <a:ext cx="1455284" cy="48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22980" y="153297"/>
            <a:ext cx="1189324" cy="4947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4"/>
          <p:cNvSpPr txBox="1"/>
          <p:nvPr/>
        </p:nvSpPr>
        <p:spPr>
          <a:xfrm>
            <a:off x="7955494" y="6492875"/>
            <a:ext cx="38247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© Project Contest Innovations LLP.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8.jpg"/><Relationship Id="rId5" Type="http://schemas.openxmlformats.org/officeDocument/2006/relationships/image" Target="../media/image15.jp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jp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16.jp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jp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Google Shape;90;p1"/>
          <p:cNvGraphicFramePr/>
          <p:nvPr/>
        </p:nvGraphicFramePr>
        <p:xfrm>
          <a:off x="1025397" y="2543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{86B19831-4F8B-4C8C-88AB-39AB46E1A218}</a:tableStyleId>
              </a:tblPr>
              <a:tblGrid>
                <a:gridCol w="807650"/>
                <a:gridCol w="2450075"/>
                <a:gridCol w="1306900"/>
                <a:gridCol w="3852000"/>
                <a:gridCol w="2514150"/>
              </a:tblGrid>
              <a:tr h="61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S.No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student 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Year/Dept.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Email Id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Contact Number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sz="2000" u="none" cap="none" strike="noStrike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Akalya B     </a:t>
                      </a:r>
                      <a:endParaRPr b="1" i="0" sz="2000" u="none" cap="none" strike="noStrike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2nd/ECE</a:t>
                      </a:r>
                      <a:endParaRPr b="1" i="0" sz="2000" u="none" cap="none" strike="noStrike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akalyahas1877@gmail.com</a:t>
                      </a:r>
                      <a:endParaRPr b="1" i="0" sz="2000" u="none" cap="none" strike="noStrike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7010572747</a:t>
                      </a:r>
                      <a:endParaRPr b="1" i="0" sz="2000" u="none" cap="none" strike="noStrike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sz="2000" u="none" cap="none" strike="noStrike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Abitha K R</a:t>
                      </a:r>
                      <a:endParaRPr b="1" i="0" sz="2000" u="none" cap="none" strike="noStrike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2nd/ECE</a:t>
                      </a:r>
                      <a:endParaRPr b="1" i="0" sz="2000" u="none" cap="none" strike="noStrike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akr77852@gmail.com</a:t>
                      </a:r>
                      <a:endParaRPr b="1" i="0" sz="2000" u="none" cap="none" strike="noStrike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6380615493</a:t>
                      </a:r>
                      <a:endParaRPr b="1" i="0" sz="2000" u="none" cap="none" strike="noStrike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 sz="2000" u="none" cap="none" strike="noStrike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Gayathri K K</a:t>
                      </a:r>
                      <a:endParaRPr b="1" i="0" sz="2000" u="none" cap="none" strike="noStrike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2nd/ECE</a:t>
                      </a:r>
                      <a:endParaRPr b="1" i="0" sz="2000" u="none" cap="none" strike="noStrike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gayathrikanaga29@gmail.com</a:t>
                      </a:r>
                      <a:endParaRPr b="1" i="0" sz="2000" u="none" cap="none" strike="noStrike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7418711329</a:t>
                      </a:r>
                      <a:endParaRPr b="1" i="0" sz="2000" u="none" cap="none" strike="noStrike">
                        <a:solidFill>
                          <a:srgbClr val="0000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"/>
          <p:cNvSpPr txBox="1"/>
          <p:nvPr/>
        </p:nvSpPr>
        <p:spPr>
          <a:xfrm>
            <a:off x="467225" y="519550"/>
            <a:ext cx="548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Name: FlexiFusion</a:t>
            </a:r>
            <a:endParaRPr b="1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119800" y="1012150"/>
            <a:ext cx="4955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Theme: One less thing , one more purpose</a:t>
            </a:r>
            <a:endParaRPr b="1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11175" y="1650250"/>
            <a:ext cx="75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Title: </a:t>
            </a:r>
            <a:r>
              <a:rPr b="1" i="0" lang="en-US" sz="2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PROTECTOTE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025371" y="6060124"/>
            <a:ext cx="609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Leader Name : Akalya B</a:t>
            </a:r>
            <a:endParaRPr b="1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519725" y="5432175"/>
            <a:ext cx="103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Name: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Ramakrishnan College Of Technology </a:t>
            </a:r>
            <a:endParaRPr b="1" i="0" sz="2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6102" y="2724284"/>
            <a:ext cx="121920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7700" y="0"/>
            <a:ext cx="2857500" cy="7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328473" y="292964"/>
            <a:ext cx="452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733900" y="1288850"/>
            <a:ext cx="10724100" cy="57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200"/>
              <a:buFont typeface="Times"/>
              <a:buChar char="●"/>
            </a:pPr>
            <a:r>
              <a:rPr b="0" i="0" lang="en-US" sz="26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To develop a versatile accessory that functions both as an umbrella and a handbag, addressing the needs of users who require both items during the summer months and rainy seasons . The solution should seamlessly transition between these two functions while maintaining practicality, aesthetics, and ease of use.</a:t>
            </a:r>
            <a:endParaRPr b="0" i="0" sz="2600" u="none" cap="none" strike="noStrike">
              <a:solidFill>
                <a:srgbClr val="0D0D0D"/>
              </a:solidFill>
              <a:highlight>
                <a:srgbClr val="FFFFFF"/>
              </a:highlight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D0D0D"/>
              </a:solidFill>
              <a:highlight>
                <a:srgbClr val="FFFFFF"/>
              </a:highlight>
              <a:latin typeface="Times"/>
              <a:ea typeface="Times"/>
              <a:cs typeface="Times"/>
              <a:sym typeface="Times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600"/>
              <a:buFont typeface="Times"/>
              <a:buChar char="●"/>
            </a:pPr>
            <a:r>
              <a:rPr b="0" i="0" lang="en-US" sz="26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The accessory should serve as a fully functional umbrella for sun protection and a practical handbag for carrying personal items.</a:t>
            </a:r>
            <a:endParaRPr b="0" i="0" sz="2600" u="none" cap="none" strike="noStrike">
              <a:solidFill>
                <a:srgbClr val="0D0D0D"/>
              </a:solidFill>
              <a:highlight>
                <a:srgbClr val="FFFFFF"/>
              </a:highlight>
              <a:latin typeface="Times"/>
              <a:ea typeface="Times"/>
              <a:cs typeface="Times"/>
              <a:sym typeface="Time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0607750" y="4119350"/>
            <a:ext cx="160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8771" y="0"/>
            <a:ext cx="285750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3d875375d07d0b3e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4326" y="1476375"/>
            <a:ext cx="7169550" cy="390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d875375d07d0b3e_25"/>
          <p:cNvSpPr txBox="1"/>
          <p:nvPr/>
        </p:nvSpPr>
        <p:spPr>
          <a:xfrm>
            <a:off x="328476" y="292973"/>
            <a:ext cx="5749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REAL TIME PROBLEM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g3d875375d07d0b3e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68900" y="0"/>
            <a:ext cx="3079325" cy="117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/>
        </p:nvSpPr>
        <p:spPr>
          <a:xfrm>
            <a:off x="328479" y="292975"/>
            <a:ext cx="8158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EXISTING PRODUCT DETAILS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4137" y="1944163"/>
            <a:ext cx="2003731" cy="2969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8476" y="1195175"/>
            <a:ext cx="3841656" cy="567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950" y="1209675"/>
            <a:ext cx="4505325" cy="564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86675" y="0"/>
            <a:ext cx="3514300" cy="12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/>
        </p:nvSpPr>
        <p:spPr>
          <a:xfrm>
            <a:off x="328475" y="292975"/>
            <a:ext cx="78213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latin typeface="Arial Black"/>
                <a:ea typeface="Arial Black"/>
                <a:cs typeface="Arial Black"/>
                <a:sym typeface="Arial Black"/>
              </a:rPr>
              <a:t>HIGHLIGHTED SURVEY 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0" y="2722390"/>
            <a:ext cx="121920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0" y="2722390"/>
            <a:ext cx="121920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0" y="2722390"/>
            <a:ext cx="121920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3900" y="875875"/>
            <a:ext cx="5525874" cy="598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4500" y="-10"/>
            <a:ext cx="285750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/>
        </p:nvSpPr>
        <p:spPr>
          <a:xfrm>
            <a:off x="328475" y="292975"/>
            <a:ext cx="8550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latin typeface="Arial Black"/>
                <a:ea typeface="Arial Black"/>
                <a:cs typeface="Arial Black"/>
                <a:sym typeface="Arial Black"/>
              </a:rPr>
              <a:t>SOLUTION ON PROPOSED DESIGN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733900" y="877975"/>
            <a:ext cx="10724100" cy="42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34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34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34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34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34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434343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434343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434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4150" y="1060925"/>
            <a:ext cx="9432076" cy="543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4500" y="0"/>
            <a:ext cx="285750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/>
        </p:nvSpPr>
        <p:spPr>
          <a:xfrm>
            <a:off x="328476" y="292975"/>
            <a:ext cx="67185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WORKING OF INVENTION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486369" y="1284050"/>
            <a:ext cx="3917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1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1846625" y="1825275"/>
            <a:ext cx="39174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6387825" y="1284050"/>
            <a:ext cx="532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375" y="1861424"/>
            <a:ext cx="5329800" cy="44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/>
          <p:nvPr/>
        </p:nvSpPr>
        <p:spPr>
          <a:xfrm>
            <a:off x="0" y="2722390"/>
            <a:ext cx="121920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2825" y="1591850"/>
            <a:ext cx="5044450" cy="48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4500" y="0"/>
            <a:ext cx="285750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/>
          <p:nvPr/>
        </p:nvSpPr>
        <p:spPr>
          <a:xfrm>
            <a:off x="328476" y="292972"/>
            <a:ext cx="5548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latin typeface="Arial Black"/>
                <a:ea typeface="Arial Black"/>
                <a:cs typeface="Arial Black"/>
                <a:sym typeface="Arial Black"/>
              </a:rPr>
              <a:t>TARGET MARKETING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733950" y="1433115"/>
            <a:ext cx="10724100" cy="6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rgbClr val="274E1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Travelers</a:t>
            </a:r>
            <a:endParaRPr sz="2400">
              <a:solidFill>
                <a:srgbClr val="274E1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rgbClr val="274E1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Students</a:t>
            </a:r>
            <a:endParaRPr sz="2400">
              <a:solidFill>
                <a:srgbClr val="274E1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rgbClr val="274E1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Urban commuters</a:t>
            </a:r>
            <a:endParaRPr sz="2400">
              <a:solidFill>
                <a:srgbClr val="274E1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rgbClr val="274E1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Eco conscious consumers</a:t>
            </a:r>
            <a:endParaRPr sz="2400">
              <a:solidFill>
                <a:srgbClr val="274E1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rgbClr val="274E1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Office spaces</a:t>
            </a:r>
            <a:endParaRPr sz="2400">
              <a:solidFill>
                <a:srgbClr val="274E1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rgbClr val="274E1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rgbClr val="274E1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rgbClr val="274E1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rgbClr val="274E1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rgbClr val="274E1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rgbClr val="274E1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400" u="none" cap="none" strike="noStrike">
              <a:solidFill>
                <a:srgbClr val="274E1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9" name="Google Shape;15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3602" y="20279"/>
            <a:ext cx="3116616" cy="141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/>
          <p:nvPr/>
        </p:nvSpPr>
        <p:spPr>
          <a:xfrm>
            <a:off x="328476" y="292972"/>
            <a:ext cx="6079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COMPETITOR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838200" y="1278080"/>
            <a:ext cx="10018500" cy="45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Alternate Solutions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3200"/>
              <a:buFont typeface="Noto Sans Symbols"/>
              <a:buChar char="❑"/>
            </a:pPr>
            <a:r>
              <a:rPr lang="en-US" sz="3200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Telescopic Handle with Storage bag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3200"/>
              <a:buFont typeface="Noto Sans Symbols"/>
              <a:buChar char="❑"/>
            </a:pPr>
            <a:r>
              <a:rPr lang="en-US" sz="3200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Detachable umbrella bag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 Solution 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3200"/>
              <a:buFont typeface="Noto Sans Symbols"/>
              <a:buChar char="❑"/>
            </a:pPr>
            <a:r>
              <a:rPr lang="en-US" sz="3200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Protectote (multifunctional product ,both bag and Umbrella are using)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3600" y="20275"/>
            <a:ext cx="2878400" cy="141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/>
          <p:nvPr/>
        </p:nvSpPr>
        <p:spPr>
          <a:xfrm>
            <a:off x="328476" y="292975"/>
            <a:ext cx="5795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VALUE PROPOSITION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328475" y="1501200"/>
            <a:ext cx="11354100" cy="3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an umbrella and a tote bag, reducing the need for multiple accessories.</a:t>
            </a:r>
            <a:endParaRPr b="0" i="0" sz="2400" u="none" cap="none" strike="noStrike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Lightweight and compact design makes it easy to carry and use daily.</a:t>
            </a:r>
            <a:endParaRPr b="0" i="0" sz="2400" u="none" cap="none" strike="noStrike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and fashionable, catering to urban and style-conscious users.</a:t>
            </a:r>
            <a:endParaRPr b="0" i="0" sz="2400" u="none" cap="none" strike="noStrike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Made from weather-resistant, high-quality materials for long-lasting use.</a:t>
            </a:r>
            <a:endParaRPr b="0" i="0" sz="2400" u="none" cap="none" strike="noStrike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compartments in bag mode for better organization of personal items.</a:t>
            </a:r>
            <a:endParaRPr b="0" i="0" sz="2400" u="none" cap="none" strike="noStrike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40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Crafted from sustainable materials, appealing to environmentally conscious consumer</a:t>
            </a:r>
            <a:endParaRPr b="0" i="0" sz="2400" u="none" cap="none" strike="noStrike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3" name="Google Shape;17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3600" y="20275"/>
            <a:ext cx="2878400" cy="141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 txBox="1"/>
          <p:nvPr/>
        </p:nvSpPr>
        <p:spPr>
          <a:xfrm>
            <a:off x="328477" y="292975"/>
            <a:ext cx="7141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CHANNELS FOR MARKETING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965421" y="1333130"/>
            <a:ext cx="10847400" cy="54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Website</a:t>
            </a:r>
            <a:b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Media Marketing</a:t>
            </a:r>
            <a:b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Influencer Marketing</a:t>
            </a:r>
            <a:b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 Marketing</a:t>
            </a:r>
            <a:endParaRPr b="0" i="0" sz="2400" u="none" cap="none" strike="noStrike">
              <a:solidFill>
                <a:srgbClr val="3856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 Marketing</a:t>
            </a:r>
            <a:b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Advertising</a:t>
            </a:r>
            <a:b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Retail Partnerships</a:t>
            </a:r>
            <a:b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Referral Program</a:t>
            </a:r>
            <a:b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Trade Shows and Exhibitions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3600" y="20275"/>
            <a:ext cx="2878400" cy="141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/>
          <p:nvPr/>
        </p:nvSpPr>
        <p:spPr>
          <a:xfrm>
            <a:off x="328473" y="292964"/>
            <a:ext cx="47445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REVENUE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838200" y="1196788"/>
            <a:ext cx="10515600" cy="48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Sales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Wholesale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Bundling with Other Products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Customization and Personalization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Advertising and Affiliate Marketing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Licensing and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Corporate Sales and B2B Contracts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E-commerce Marketplace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3600" y="20275"/>
            <a:ext cx="2878400" cy="141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875375d07d0b3e_9"/>
          <p:cNvSpPr txBox="1"/>
          <p:nvPr/>
        </p:nvSpPr>
        <p:spPr>
          <a:xfrm>
            <a:off x="328476" y="292970"/>
            <a:ext cx="6622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MARKETING STRATEGY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d875375d07d0b3e_9"/>
          <p:cNvSpPr txBox="1"/>
          <p:nvPr/>
        </p:nvSpPr>
        <p:spPr>
          <a:xfrm>
            <a:off x="941294" y="1425388"/>
            <a:ext cx="10412400" cy="59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400" u="none" cap="none" strike="noStrike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-US" sz="2400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arket Analysis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b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target audience preferences, behavior, and purchasing patterns in different industries such as households, office spaces, and hospitality.</a:t>
            </a:r>
            <a:endParaRPr b="0" i="0" sz="2400" u="none" cap="none" strike="noStrike">
              <a:solidFill>
                <a:srgbClr val="3856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856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SWOT Analysis:</a:t>
            </a:r>
            <a:endParaRPr b="0" i="0" sz="2400" u="none" cap="none" strike="noStrike">
              <a:solidFill>
                <a:srgbClr val="3856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Strengths: Durability, smooth movement, and modern aesthetics.</a:t>
            </a:r>
            <a:b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Weaknesses: Potential higher cost compared to plastic alternatives.</a:t>
            </a:r>
            <a:endParaRPr sz="2400"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Threats: Competition from low-cost, traditional furniture accessories.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0" sz="2400" u="none" cap="none" strike="noStrike">
              <a:solidFill>
                <a:srgbClr val="000000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id="195" name="Google Shape;195;g3d875375d07d0b3e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3600" y="20275"/>
            <a:ext cx="2878400" cy="141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875375d07d0b3e_14"/>
          <p:cNvSpPr txBox="1"/>
          <p:nvPr/>
        </p:nvSpPr>
        <p:spPr>
          <a:xfrm>
            <a:off x="328476" y="292970"/>
            <a:ext cx="6622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ROAD MAP</a:t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202" name="Google Shape;202;g3d875375d07d0b3e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3625" y="1454875"/>
            <a:ext cx="8776676" cy="459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d875375d07d0b3e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13600" y="20275"/>
            <a:ext cx="2878400" cy="141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ank You PNG Images, Free Thank You Clipart Pictures - Free Transparent PNG  Logos" id="208" name="Google Shape;20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5866" y="2262525"/>
            <a:ext cx="4630750" cy="2332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13600" y="20275"/>
            <a:ext cx="2878400" cy="141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KANNAN</dc:creator>
</cp:coreProperties>
</file>